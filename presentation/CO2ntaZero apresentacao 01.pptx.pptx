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oto Serif Bold" charset="1" panose="02020800060500020200"/>
      <p:regular r:id="rId16"/>
    </p:embeddedFont>
    <p:embeddedFont>
      <p:font typeface="Arimo" charset="1" panose="020B0604020202020204"/>
      <p:regular r:id="rId17"/>
    </p:embeddedFont>
    <p:embeddedFont>
      <p:font typeface="Arimo Bold" charset="1" panose="020B0704020202020204"/>
      <p:regular r:id="rId18"/>
    </p:embeddedFont>
    <p:embeddedFont>
      <p:font typeface="Noto Serif" charset="1" panose="020206000605000202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48099" y="1340468"/>
            <a:ext cx="6191802" cy="2564035"/>
          </a:xfrm>
          <a:custGeom>
            <a:avLst/>
            <a:gdLst/>
            <a:ahLst/>
            <a:cxnLst/>
            <a:rect r="r" b="b" t="t" l="l"/>
            <a:pathLst>
              <a:path h="2564035" w="6191802">
                <a:moveTo>
                  <a:pt x="0" y="0"/>
                </a:moveTo>
                <a:lnTo>
                  <a:pt x="6191802" y="0"/>
                </a:lnTo>
                <a:lnTo>
                  <a:pt x="6191802" y="2564034"/>
                </a:lnTo>
                <a:lnTo>
                  <a:pt x="0" y="2564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742" t="-47216" r="-20390" b="-4249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59537" y="4110825"/>
            <a:ext cx="976892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Calculadora de Emissões e Conscientização Ambiental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38725"/>
            <a:ext cx="16303523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Uma plataforma de inteligência sustentável para monitoramento de recursos, resíduos e pegada de carbono, otimizada para microempresas e residências.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59512" y="6935385"/>
            <a:ext cx="4241899" cy="127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PUC MINAS</a:t>
            </a:r>
          </a:p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Sistemas de Informação</a:t>
            </a:r>
          </a:p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1073" y="9182100"/>
            <a:ext cx="17325853" cy="62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4"/>
              </a:lnSpc>
            </a:pPr>
            <a:r>
              <a:rPr lang="en-US" sz="15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Integrantes</a:t>
            </a:r>
          </a:p>
          <a:p>
            <a:pPr algn="ctr">
              <a:lnSpc>
                <a:spcPts val="2422"/>
              </a:lnSpc>
            </a:pPr>
            <a:r>
              <a:rPr lang="en-US" sz="14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Caio Vieira de Freitas | </a:t>
            </a:r>
            <a:r>
              <a:rPr lang="en-US" sz="14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Gustavo Costa Pinho Tavares | Heron Victor Vieira da Silva | João Vinicius Rodrigues Santos | Saulo Luiz de Oliveira e Silva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1073" y="8356198"/>
            <a:ext cx="17325853" cy="62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4"/>
              </a:lnSpc>
            </a:pPr>
            <a:r>
              <a:rPr lang="en-US" sz="15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Pr</a:t>
            </a:r>
            <a:r>
              <a:rPr lang="en-US" sz="15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ofes</a:t>
            </a:r>
            <a:r>
              <a:rPr lang="en-US" sz="1587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sor</a:t>
            </a:r>
          </a:p>
          <a:p>
            <a:pPr algn="ctr">
              <a:lnSpc>
                <a:spcPts val="2422"/>
              </a:lnSpc>
            </a:pPr>
            <a:r>
              <a:rPr lang="en-US" sz="14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Amália Soares Vieira de Vasconcelos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54798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 Cenário Atual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4131621"/>
            <a:ext cx="5254971" cy="3476777"/>
            <a:chOff x="0" y="0"/>
            <a:chExt cx="7006628" cy="46357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622927"/>
            </a:xfrm>
            <a:custGeom>
              <a:avLst/>
              <a:gdLst/>
              <a:ahLst/>
              <a:cxnLst/>
              <a:rect r="r" b="b" t="t" l="l"/>
              <a:pathLst>
                <a:path h="4622927" w="6993890">
                  <a:moveTo>
                    <a:pt x="0" y="340233"/>
                  </a:moveTo>
                  <a:cubicBezTo>
                    <a:pt x="0" y="152273"/>
                    <a:pt x="152527" y="0"/>
                    <a:pt x="340614" y="0"/>
                  </a:cubicBezTo>
                  <a:lnTo>
                    <a:pt x="6653403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4282694"/>
                  </a:lnTo>
                  <a:cubicBezTo>
                    <a:pt x="6993890" y="4470654"/>
                    <a:pt x="6841363" y="4622927"/>
                    <a:pt x="6653276" y="4622927"/>
                  </a:cubicBezTo>
                  <a:lnTo>
                    <a:pt x="340614" y="4622927"/>
                  </a:lnTo>
                  <a:cubicBezTo>
                    <a:pt x="152527" y="4623054"/>
                    <a:pt x="0" y="4470654"/>
                    <a:pt x="0" y="4282694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717" cy="4635627"/>
            </a:xfrm>
            <a:custGeom>
              <a:avLst/>
              <a:gdLst/>
              <a:ahLst/>
              <a:cxnLst/>
              <a:rect r="r" b="b" t="t" l="l"/>
              <a:pathLst>
                <a:path h="4635627" w="7006717">
                  <a:moveTo>
                    <a:pt x="0" y="346583"/>
                  </a:moveTo>
                  <a:cubicBezTo>
                    <a:pt x="0" y="155194"/>
                    <a:pt x="155321" y="0"/>
                    <a:pt x="346964" y="0"/>
                  </a:cubicBezTo>
                  <a:lnTo>
                    <a:pt x="6659753" y="0"/>
                  </a:lnTo>
                  <a:lnTo>
                    <a:pt x="6659753" y="6350"/>
                  </a:lnTo>
                  <a:lnTo>
                    <a:pt x="6659753" y="0"/>
                  </a:lnTo>
                  <a:cubicBezTo>
                    <a:pt x="6851397" y="0"/>
                    <a:pt x="7006717" y="155194"/>
                    <a:pt x="7006717" y="346583"/>
                  </a:cubicBezTo>
                  <a:lnTo>
                    <a:pt x="7000367" y="346583"/>
                  </a:lnTo>
                  <a:lnTo>
                    <a:pt x="7006717" y="346583"/>
                  </a:lnTo>
                  <a:lnTo>
                    <a:pt x="7006717" y="4289044"/>
                  </a:lnTo>
                  <a:lnTo>
                    <a:pt x="7000367" y="4289044"/>
                  </a:lnTo>
                  <a:lnTo>
                    <a:pt x="7006717" y="4289044"/>
                  </a:lnTo>
                  <a:cubicBezTo>
                    <a:pt x="7006717" y="4480433"/>
                    <a:pt x="6851397" y="4635627"/>
                    <a:pt x="6659753" y="4635627"/>
                  </a:cubicBezTo>
                  <a:lnTo>
                    <a:pt x="6659753" y="4629277"/>
                  </a:lnTo>
                  <a:lnTo>
                    <a:pt x="6659753" y="4635627"/>
                  </a:lnTo>
                  <a:lnTo>
                    <a:pt x="346964" y="4635627"/>
                  </a:lnTo>
                  <a:lnTo>
                    <a:pt x="346964" y="4629277"/>
                  </a:lnTo>
                  <a:lnTo>
                    <a:pt x="346964" y="4635627"/>
                  </a:lnTo>
                  <a:cubicBezTo>
                    <a:pt x="155321" y="4635754"/>
                    <a:pt x="0" y="4480560"/>
                    <a:pt x="0" y="4289044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4289044"/>
                  </a:lnTo>
                  <a:lnTo>
                    <a:pt x="6350" y="4289044"/>
                  </a:lnTo>
                  <a:lnTo>
                    <a:pt x="12700" y="4289044"/>
                  </a:lnTo>
                  <a:cubicBezTo>
                    <a:pt x="12700" y="4473448"/>
                    <a:pt x="162306" y="4622927"/>
                    <a:pt x="346964" y="4622927"/>
                  </a:cubicBezTo>
                  <a:lnTo>
                    <a:pt x="6659753" y="4622927"/>
                  </a:lnTo>
                  <a:cubicBezTo>
                    <a:pt x="6844285" y="4622927"/>
                    <a:pt x="6994017" y="4473448"/>
                    <a:pt x="6994017" y="4289044"/>
                  </a:cubicBezTo>
                  <a:lnTo>
                    <a:pt x="6994017" y="346583"/>
                  </a:lnTo>
                  <a:cubicBezTo>
                    <a:pt x="6993890" y="162179"/>
                    <a:pt x="6844284" y="12700"/>
                    <a:pt x="6659753" y="12700"/>
                  </a:cubicBezTo>
                  <a:lnTo>
                    <a:pt x="346964" y="12700"/>
                  </a:lnTo>
                  <a:lnTo>
                    <a:pt x="346964" y="6350"/>
                  </a:lnTo>
                  <a:lnTo>
                    <a:pt x="346964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441989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 Problema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4937674"/>
            <a:ext cx="4659363" cy="177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Pequenos empreendedores e chefes de família têm dificuldade em relacionar o consumo de suas contas com o impacto ambiental real.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6443" y="4131621"/>
            <a:ext cx="5254971" cy="3476777"/>
            <a:chOff x="0" y="0"/>
            <a:chExt cx="7006628" cy="46357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993890" cy="4622927"/>
            </a:xfrm>
            <a:custGeom>
              <a:avLst/>
              <a:gdLst/>
              <a:ahLst/>
              <a:cxnLst/>
              <a:rect r="r" b="b" t="t" l="l"/>
              <a:pathLst>
                <a:path h="4622927" w="6993890">
                  <a:moveTo>
                    <a:pt x="0" y="340233"/>
                  </a:moveTo>
                  <a:cubicBezTo>
                    <a:pt x="0" y="152273"/>
                    <a:pt x="152527" y="0"/>
                    <a:pt x="340614" y="0"/>
                  </a:cubicBezTo>
                  <a:lnTo>
                    <a:pt x="6653403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4282694"/>
                  </a:lnTo>
                  <a:cubicBezTo>
                    <a:pt x="6993890" y="4470654"/>
                    <a:pt x="6841363" y="4622927"/>
                    <a:pt x="6653276" y="4622927"/>
                  </a:cubicBezTo>
                  <a:lnTo>
                    <a:pt x="340614" y="4622927"/>
                  </a:lnTo>
                  <a:cubicBezTo>
                    <a:pt x="152527" y="4623054"/>
                    <a:pt x="0" y="4470654"/>
                    <a:pt x="0" y="4282694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6717" cy="4635627"/>
            </a:xfrm>
            <a:custGeom>
              <a:avLst/>
              <a:gdLst/>
              <a:ahLst/>
              <a:cxnLst/>
              <a:rect r="r" b="b" t="t" l="l"/>
              <a:pathLst>
                <a:path h="4635627" w="7006717">
                  <a:moveTo>
                    <a:pt x="0" y="346583"/>
                  </a:moveTo>
                  <a:cubicBezTo>
                    <a:pt x="0" y="155194"/>
                    <a:pt x="155321" y="0"/>
                    <a:pt x="346964" y="0"/>
                  </a:cubicBezTo>
                  <a:lnTo>
                    <a:pt x="6659753" y="0"/>
                  </a:lnTo>
                  <a:lnTo>
                    <a:pt x="6659753" y="6350"/>
                  </a:lnTo>
                  <a:lnTo>
                    <a:pt x="6659753" y="0"/>
                  </a:lnTo>
                  <a:cubicBezTo>
                    <a:pt x="6851397" y="0"/>
                    <a:pt x="7006717" y="155194"/>
                    <a:pt x="7006717" y="346583"/>
                  </a:cubicBezTo>
                  <a:lnTo>
                    <a:pt x="7000367" y="346583"/>
                  </a:lnTo>
                  <a:lnTo>
                    <a:pt x="7006717" y="346583"/>
                  </a:lnTo>
                  <a:lnTo>
                    <a:pt x="7006717" y="4289044"/>
                  </a:lnTo>
                  <a:lnTo>
                    <a:pt x="7000367" y="4289044"/>
                  </a:lnTo>
                  <a:lnTo>
                    <a:pt x="7006717" y="4289044"/>
                  </a:lnTo>
                  <a:cubicBezTo>
                    <a:pt x="7006717" y="4480433"/>
                    <a:pt x="6851397" y="4635627"/>
                    <a:pt x="6659753" y="4635627"/>
                  </a:cubicBezTo>
                  <a:lnTo>
                    <a:pt x="6659753" y="4629277"/>
                  </a:lnTo>
                  <a:lnTo>
                    <a:pt x="6659753" y="4635627"/>
                  </a:lnTo>
                  <a:lnTo>
                    <a:pt x="346964" y="4635627"/>
                  </a:lnTo>
                  <a:lnTo>
                    <a:pt x="346964" y="4629277"/>
                  </a:lnTo>
                  <a:lnTo>
                    <a:pt x="346964" y="4635627"/>
                  </a:lnTo>
                  <a:cubicBezTo>
                    <a:pt x="155321" y="4635754"/>
                    <a:pt x="0" y="4480560"/>
                    <a:pt x="0" y="4289044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4289044"/>
                  </a:lnTo>
                  <a:lnTo>
                    <a:pt x="6350" y="4289044"/>
                  </a:lnTo>
                  <a:lnTo>
                    <a:pt x="12700" y="4289044"/>
                  </a:lnTo>
                  <a:cubicBezTo>
                    <a:pt x="12700" y="4473448"/>
                    <a:pt x="162306" y="4622927"/>
                    <a:pt x="346964" y="4622927"/>
                  </a:cubicBezTo>
                  <a:lnTo>
                    <a:pt x="6659753" y="4622927"/>
                  </a:lnTo>
                  <a:cubicBezTo>
                    <a:pt x="6844285" y="4622927"/>
                    <a:pt x="6994017" y="4473448"/>
                    <a:pt x="6994017" y="4289044"/>
                  </a:cubicBezTo>
                  <a:lnTo>
                    <a:pt x="6994017" y="346583"/>
                  </a:lnTo>
                  <a:cubicBezTo>
                    <a:pt x="6993890" y="162179"/>
                    <a:pt x="6844284" y="12700"/>
                    <a:pt x="6659753" y="12700"/>
                  </a:cubicBezTo>
                  <a:lnTo>
                    <a:pt x="346964" y="12700"/>
                  </a:lnTo>
                  <a:lnTo>
                    <a:pt x="346964" y="6350"/>
                  </a:lnTo>
                  <a:lnTo>
                    <a:pt x="346964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14242" y="441989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 Lacuna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4242" y="4937674"/>
            <a:ext cx="4659363" cy="2224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Ferramentas de gestão sustentável existentes são complexas, caras e focadas apenas em grandes corporações, deixando pequenos negócios desassistidos.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45401" y="4131621"/>
            <a:ext cx="5254971" cy="3476777"/>
            <a:chOff x="0" y="0"/>
            <a:chExt cx="7006628" cy="4635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993890" cy="4622927"/>
            </a:xfrm>
            <a:custGeom>
              <a:avLst/>
              <a:gdLst/>
              <a:ahLst/>
              <a:cxnLst/>
              <a:rect r="r" b="b" t="t" l="l"/>
              <a:pathLst>
                <a:path h="4622927" w="6993890">
                  <a:moveTo>
                    <a:pt x="0" y="340233"/>
                  </a:moveTo>
                  <a:cubicBezTo>
                    <a:pt x="0" y="152273"/>
                    <a:pt x="152527" y="0"/>
                    <a:pt x="340614" y="0"/>
                  </a:cubicBezTo>
                  <a:lnTo>
                    <a:pt x="6653403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4282694"/>
                  </a:lnTo>
                  <a:cubicBezTo>
                    <a:pt x="6993890" y="4470654"/>
                    <a:pt x="6841363" y="4622927"/>
                    <a:pt x="6653276" y="4622927"/>
                  </a:cubicBezTo>
                  <a:lnTo>
                    <a:pt x="340614" y="4622927"/>
                  </a:lnTo>
                  <a:cubicBezTo>
                    <a:pt x="152527" y="4623054"/>
                    <a:pt x="0" y="4470654"/>
                    <a:pt x="0" y="4282694"/>
                  </a:cubicBezTo>
                  <a:close/>
                </a:path>
              </a:pathLst>
            </a:custGeom>
            <a:solidFill>
              <a:srgbClr val="D1EFE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6717" cy="4635627"/>
            </a:xfrm>
            <a:custGeom>
              <a:avLst/>
              <a:gdLst/>
              <a:ahLst/>
              <a:cxnLst/>
              <a:rect r="r" b="b" t="t" l="l"/>
              <a:pathLst>
                <a:path h="4635627" w="7006717">
                  <a:moveTo>
                    <a:pt x="0" y="346583"/>
                  </a:moveTo>
                  <a:cubicBezTo>
                    <a:pt x="0" y="155194"/>
                    <a:pt x="155321" y="0"/>
                    <a:pt x="346964" y="0"/>
                  </a:cubicBezTo>
                  <a:lnTo>
                    <a:pt x="6659753" y="0"/>
                  </a:lnTo>
                  <a:lnTo>
                    <a:pt x="6659753" y="6350"/>
                  </a:lnTo>
                  <a:lnTo>
                    <a:pt x="6659753" y="0"/>
                  </a:lnTo>
                  <a:cubicBezTo>
                    <a:pt x="6851397" y="0"/>
                    <a:pt x="7006717" y="155194"/>
                    <a:pt x="7006717" y="346583"/>
                  </a:cubicBezTo>
                  <a:lnTo>
                    <a:pt x="7000367" y="346583"/>
                  </a:lnTo>
                  <a:lnTo>
                    <a:pt x="7006717" y="346583"/>
                  </a:lnTo>
                  <a:lnTo>
                    <a:pt x="7006717" y="4289044"/>
                  </a:lnTo>
                  <a:lnTo>
                    <a:pt x="7000367" y="4289044"/>
                  </a:lnTo>
                  <a:lnTo>
                    <a:pt x="7006717" y="4289044"/>
                  </a:lnTo>
                  <a:cubicBezTo>
                    <a:pt x="7006717" y="4480433"/>
                    <a:pt x="6851397" y="4635627"/>
                    <a:pt x="6659753" y="4635627"/>
                  </a:cubicBezTo>
                  <a:lnTo>
                    <a:pt x="6659753" y="4629277"/>
                  </a:lnTo>
                  <a:lnTo>
                    <a:pt x="6659753" y="4635627"/>
                  </a:lnTo>
                  <a:lnTo>
                    <a:pt x="346964" y="4635627"/>
                  </a:lnTo>
                  <a:lnTo>
                    <a:pt x="346964" y="4629277"/>
                  </a:lnTo>
                  <a:lnTo>
                    <a:pt x="346964" y="4635627"/>
                  </a:lnTo>
                  <a:cubicBezTo>
                    <a:pt x="155321" y="4635754"/>
                    <a:pt x="0" y="4480560"/>
                    <a:pt x="0" y="4289044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4289044"/>
                  </a:lnTo>
                  <a:lnTo>
                    <a:pt x="6350" y="4289044"/>
                  </a:lnTo>
                  <a:lnTo>
                    <a:pt x="12700" y="4289044"/>
                  </a:lnTo>
                  <a:cubicBezTo>
                    <a:pt x="12700" y="4473448"/>
                    <a:pt x="162306" y="4622927"/>
                    <a:pt x="346964" y="4622927"/>
                  </a:cubicBezTo>
                  <a:lnTo>
                    <a:pt x="6659753" y="4622927"/>
                  </a:lnTo>
                  <a:cubicBezTo>
                    <a:pt x="6844285" y="4622927"/>
                    <a:pt x="6994017" y="4473448"/>
                    <a:pt x="6994017" y="4289044"/>
                  </a:cubicBezTo>
                  <a:lnTo>
                    <a:pt x="6994017" y="346583"/>
                  </a:lnTo>
                  <a:cubicBezTo>
                    <a:pt x="6993890" y="162179"/>
                    <a:pt x="6844284" y="12700"/>
                    <a:pt x="6659753" y="12700"/>
                  </a:cubicBezTo>
                  <a:lnTo>
                    <a:pt x="346964" y="12700"/>
                  </a:lnTo>
                  <a:lnTo>
                    <a:pt x="346964" y="6350"/>
                  </a:lnTo>
                  <a:lnTo>
                    <a:pt x="346964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B7D5C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43209" y="441989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 Consequência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3209" y="4937674"/>
            <a:ext cx="4659363" cy="177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Controle manual ou inexistente, resultando em desperdício financeiro e ambiental sem que o usuário perceba.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61345"/>
            <a:ext cx="7787430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Quem sofre com isso?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65564"/>
            <a:ext cx="4252912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Público-Alvo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794970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Pequenos Empreendedores (donos de padarias, bares)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Pessoas Físicas (gestores do lar)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Micro e pequenas empresas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3065564"/>
            <a:ext cx="4252912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Personas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99397" y="3935168"/>
            <a:ext cx="7805890" cy="2112016"/>
            <a:chOff x="0" y="0"/>
            <a:chExt cx="10407853" cy="28160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07903" cy="2815971"/>
            </a:xfrm>
            <a:custGeom>
              <a:avLst/>
              <a:gdLst/>
              <a:ahLst/>
              <a:cxnLst/>
              <a:rect r="r" b="b" t="t" l="l"/>
              <a:pathLst>
                <a:path h="2815971" w="10407903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067671" y="0"/>
                  </a:lnTo>
                  <a:cubicBezTo>
                    <a:pt x="10255631" y="0"/>
                    <a:pt x="10407903" y="152273"/>
                    <a:pt x="10407903" y="340233"/>
                  </a:cubicBezTo>
                  <a:lnTo>
                    <a:pt x="10407903" y="2475738"/>
                  </a:lnTo>
                  <a:cubicBezTo>
                    <a:pt x="10407903" y="2663698"/>
                    <a:pt x="10255631" y="2815971"/>
                    <a:pt x="10067671" y="2815971"/>
                  </a:cubicBezTo>
                  <a:lnTo>
                    <a:pt x="340233" y="2815971"/>
                  </a:lnTo>
                  <a:cubicBezTo>
                    <a:pt x="152273" y="2815971"/>
                    <a:pt x="0" y="2663698"/>
                    <a:pt x="0" y="2475738"/>
                  </a:cubicBezTo>
                  <a:close/>
                </a:path>
              </a:pathLst>
            </a:custGeom>
            <a:solidFill>
              <a:srgbClr val="B3FFE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82918" y="4365279"/>
            <a:ext cx="354359" cy="283521"/>
            <a:chOff x="0" y="0"/>
            <a:chExt cx="472478" cy="37802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20798" y="4184752"/>
            <a:ext cx="660097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Ana (32 anos):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Pequena empresária tentando reduzir custos fixos e melhorar a sustentabilidade do negócio.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99397" y="6366119"/>
            <a:ext cx="7805890" cy="2112016"/>
            <a:chOff x="0" y="0"/>
            <a:chExt cx="10407853" cy="28160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903" cy="2815971"/>
            </a:xfrm>
            <a:custGeom>
              <a:avLst/>
              <a:gdLst/>
              <a:ahLst/>
              <a:cxnLst/>
              <a:rect r="r" b="b" t="t" l="l"/>
              <a:pathLst>
                <a:path h="2815971" w="10407903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067671" y="0"/>
                  </a:lnTo>
                  <a:cubicBezTo>
                    <a:pt x="10255631" y="0"/>
                    <a:pt x="10407903" y="152273"/>
                    <a:pt x="10407903" y="340233"/>
                  </a:cubicBezTo>
                  <a:lnTo>
                    <a:pt x="10407903" y="2475738"/>
                  </a:lnTo>
                  <a:cubicBezTo>
                    <a:pt x="10407903" y="2663698"/>
                    <a:pt x="10255631" y="2815971"/>
                    <a:pt x="10067671" y="2815971"/>
                  </a:cubicBezTo>
                  <a:lnTo>
                    <a:pt x="340233" y="2815971"/>
                  </a:lnTo>
                  <a:cubicBezTo>
                    <a:pt x="152273" y="2815971"/>
                    <a:pt x="0" y="2663698"/>
                    <a:pt x="0" y="2475738"/>
                  </a:cubicBezTo>
                  <a:close/>
                </a:path>
              </a:pathLst>
            </a:custGeom>
            <a:solidFill>
              <a:srgbClr val="B3FFE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782918" y="6796240"/>
            <a:ext cx="354359" cy="283521"/>
            <a:chOff x="0" y="0"/>
            <a:chExt cx="472478" cy="37802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420798" y="6615703"/>
            <a:ext cx="6600977" cy="132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Vander (65 anos):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Proprietário que precisa de simplicidade extrema para evitar desperdícios e controlar finanças.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58346" y="2378953"/>
            <a:ext cx="5523708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Por que agora?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86459" y="3791761"/>
            <a:ext cx="6110425" cy="4016131"/>
            <a:chOff x="0" y="0"/>
            <a:chExt cx="8147234" cy="535484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9270" y="0"/>
              <a:ext cx="8117964" cy="5354841"/>
              <a:chOff x="0" y="0"/>
              <a:chExt cx="8117964" cy="535484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29270" y="25400"/>
                <a:ext cx="8059381" cy="5304028"/>
              </a:xfrm>
              <a:custGeom>
                <a:avLst/>
                <a:gdLst/>
                <a:ahLst/>
                <a:cxnLst/>
                <a:rect r="r" b="b" t="t" l="l"/>
                <a:pathLst>
                  <a:path h="5304028" w="8059381">
                    <a:moveTo>
                      <a:pt x="0" y="243840"/>
                    </a:moveTo>
                    <a:cubicBezTo>
                      <a:pt x="0" y="109220"/>
                      <a:pt x="126152" y="0"/>
                      <a:pt x="281573" y="0"/>
                    </a:cubicBezTo>
                    <a:lnTo>
                      <a:pt x="7777808" y="0"/>
                    </a:lnTo>
                    <a:cubicBezTo>
                      <a:pt x="7933376" y="0"/>
                      <a:pt x="8059380" y="109220"/>
                      <a:pt x="8059380" y="243840"/>
                    </a:cubicBezTo>
                    <a:lnTo>
                      <a:pt x="8059380" y="5060188"/>
                    </a:lnTo>
                    <a:cubicBezTo>
                      <a:pt x="8059380" y="5194808"/>
                      <a:pt x="7933229" y="5304028"/>
                      <a:pt x="7777808" y="5304028"/>
                    </a:cubicBezTo>
                    <a:lnTo>
                      <a:pt x="281573" y="5304028"/>
                    </a:lnTo>
                    <a:cubicBezTo>
                      <a:pt x="126005" y="5304028"/>
                      <a:pt x="0" y="5194808"/>
                      <a:pt x="0" y="5060188"/>
                    </a:cubicBezTo>
                    <a:close/>
                  </a:path>
                </a:pathLst>
              </a:custGeom>
              <a:solidFill>
                <a:srgbClr val="E5F9F2">
                  <a:alpha val="90196"/>
                </a:srgbClr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17920" cy="5354828"/>
              </a:xfrm>
              <a:custGeom>
                <a:avLst/>
                <a:gdLst/>
                <a:ahLst/>
                <a:cxnLst/>
                <a:rect r="r" b="b" t="t" l="l"/>
                <a:pathLst>
                  <a:path h="5354828" w="8117920">
                    <a:moveTo>
                      <a:pt x="0" y="269240"/>
                    </a:moveTo>
                    <a:cubicBezTo>
                      <a:pt x="0" y="120523"/>
                      <a:pt x="139323" y="0"/>
                      <a:pt x="310843" y="0"/>
                    </a:cubicBezTo>
                    <a:lnTo>
                      <a:pt x="7807078" y="0"/>
                    </a:lnTo>
                    <a:lnTo>
                      <a:pt x="7807078" y="25400"/>
                    </a:lnTo>
                    <a:lnTo>
                      <a:pt x="7807078" y="0"/>
                    </a:lnTo>
                    <a:cubicBezTo>
                      <a:pt x="7978743" y="0"/>
                      <a:pt x="8117920" y="120523"/>
                      <a:pt x="8117920" y="269240"/>
                    </a:cubicBezTo>
                    <a:lnTo>
                      <a:pt x="8088650" y="269240"/>
                    </a:lnTo>
                    <a:lnTo>
                      <a:pt x="8117920" y="269240"/>
                    </a:lnTo>
                    <a:lnTo>
                      <a:pt x="8117920" y="5085588"/>
                    </a:lnTo>
                    <a:lnTo>
                      <a:pt x="8088650" y="5085588"/>
                    </a:lnTo>
                    <a:lnTo>
                      <a:pt x="8117920" y="5085588"/>
                    </a:lnTo>
                    <a:cubicBezTo>
                      <a:pt x="8117920" y="5234305"/>
                      <a:pt x="7978597" y="5354828"/>
                      <a:pt x="7807078" y="5354828"/>
                    </a:cubicBezTo>
                    <a:lnTo>
                      <a:pt x="7807078" y="5329428"/>
                    </a:lnTo>
                    <a:lnTo>
                      <a:pt x="7807078" y="5354828"/>
                    </a:lnTo>
                    <a:lnTo>
                      <a:pt x="310843" y="5354828"/>
                    </a:lnTo>
                    <a:lnTo>
                      <a:pt x="310843" y="5329428"/>
                    </a:lnTo>
                    <a:lnTo>
                      <a:pt x="310843" y="5354828"/>
                    </a:lnTo>
                    <a:cubicBezTo>
                      <a:pt x="139323" y="5354828"/>
                      <a:pt x="0" y="5234305"/>
                      <a:pt x="0" y="5085588"/>
                    </a:cubicBezTo>
                    <a:lnTo>
                      <a:pt x="0" y="269240"/>
                    </a:lnTo>
                    <a:lnTo>
                      <a:pt x="29270" y="269240"/>
                    </a:lnTo>
                    <a:lnTo>
                      <a:pt x="0" y="269240"/>
                    </a:lnTo>
                    <a:moveTo>
                      <a:pt x="58539" y="269240"/>
                    </a:moveTo>
                    <a:lnTo>
                      <a:pt x="58539" y="5085588"/>
                    </a:lnTo>
                    <a:lnTo>
                      <a:pt x="29270" y="5085588"/>
                    </a:lnTo>
                    <a:lnTo>
                      <a:pt x="58539" y="5085588"/>
                    </a:lnTo>
                    <a:cubicBezTo>
                      <a:pt x="58539" y="5206111"/>
                      <a:pt x="171520" y="5304028"/>
                      <a:pt x="310843" y="5304028"/>
                    </a:cubicBezTo>
                    <a:lnTo>
                      <a:pt x="7807078" y="5304028"/>
                    </a:lnTo>
                    <a:cubicBezTo>
                      <a:pt x="7946548" y="5304028"/>
                      <a:pt x="8059381" y="5206238"/>
                      <a:pt x="8059381" y="5085588"/>
                    </a:cubicBezTo>
                    <a:lnTo>
                      <a:pt x="8059381" y="269240"/>
                    </a:lnTo>
                    <a:cubicBezTo>
                      <a:pt x="8059381" y="148717"/>
                      <a:pt x="7946401" y="50800"/>
                      <a:pt x="7807078" y="50800"/>
                    </a:cubicBezTo>
                    <a:lnTo>
                      <a:pt x="310843" y="50800"/>
                    </a:lnTo>
                    <a:lnTo>
                      <a:pt x="310843" y="25400"/>
                    </a:lnTo>
                    <a:lnTo>
                      <a:pt x="310843" y="50800"/>
                    </a:lnTo>
                    <a:cubicBezTo>
                      <a:pt x="171520" y="50800"/>
                      <a:pt x="58539" y="148590"/>
                      <a:pt x="58539" y="269240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5400"/>
              <a:ext cx="234157" cy="5304041"/>
              <a:chOff x="0" y="0"/>
              <a:chExt cx="234157" cy="530404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4157" cy="5304028"/>
              </a:xfrm>
              <a:custGeom>
                <a:avLst/>
                <a:gdLst/>
                <a:ahLst/>
                <a:cxnLst/>
                <a:rect r="r" b="b" t="t" l="l"/>
                <a:pathLst>
                  <a:path h="5304028" w="234157">
                    <a:moveTo>
                      <a:pt x="0" y="101600"/>
                    </a:moveTo>
                    <a:cubicBezTo>
                      <a:pt x="0" y="45466"/>
                      <a:pt x="52393" y="0"/>
                      <a:pt x="117078" y="0"/>
                    </a:cubicBezTo>
                    <a:cubicBezTo>
                      <a:pt x="181764" y="0"/>
                      <a:pt x="234157" y="45466"/>
                      <a:pt x="234157" y="101600"/>
                    </a:cubicBezTo>
                    <a:lnTo>
                      <a:pt x="234157" y="5202428"/>
                    </a:lnTo>
                    <a:cubicBezTo>
                      <a:pt x="234157" y="5258562"/>
                      <a:pt x="181764" y="5304028"/>
                      <a:pt x="117078" y="5304028"/>
                    </a:cubicBezTo>
                    <a:cubicBezTo>
                      <a:pt x="52393" y="5304028"/>
                      <a:pt x="0" y="5258562"/>
                      <a:pt x="0" y="5202428"/>
                    </a:cubicBezTo>
                    <a:close/>
                  </a:path>
                </a:pathLst>
              </a:custGeom>
              <a:solidFill>
                <a:srgbClr val="006747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728301" y="444703"/>
              <a:ext cx="6206528" cy="557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4B4A4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Tecnologia para Todos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28301" y="1166813"/>
              <a:ext cx="6895505" cy="233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Levar ferramentas de monitoramento sustentável para um setor desassistido, auxiliando na redução de custos e na preservação ambiental simultaneamente.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22790" y="3791761"/>
            <a:ext cx="6110425" cy="4016131"/>
            <a:chOff x="0" y="0"/>
            <a:chExt cx="8147234" cy="535484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9270" y="0"/>
              <a:ext cx="8117964" cy="5354841"/>
              <a:chOff x="0" y="0"/>
              <a:chExt cx="8117964" cy="535484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29270" y="25400"/>
                <a:ext cx="8059381" cy="5304028"/>
              </a:xfrm>
              <a:custGeom>
                <a:avLst/>
                <a:gdLst/>
                <a:ahLst/>
                <a:cxnLst/>
                <a:rect r="r" b="b" t="t" l="l"/>
                <a:pathLst>
                  <a:path h="5304028" w="8059381">
                    <a:moveTo>
                      <a:pt x="0" y="243840"/>
                    </a:moveTo>
                    <a:cubicBezTo>
                      <a:pt x="0" y="109220"/>
                      <a:pt x="126152" y="0"/>
                      <a:pt x="281573" y="0"/>
                    </a:cubicBezTo>
                    <a:lnTo>
                      <a:pt x="7777808" y="0"/>
                    </a:lnTo>
                    <a:cubicBezTo>
                      <a:pt x="7933376" y="0"/>
                      <a:pt x="8059380" y="109220"/>
                      <a:pt x="8059380" y="243840"/>
                    </a:cubicBezTo>
                    <a:lnTo>
                      <a:pt x="8059380" y="5060188"/>
                    </a:lnTo>
                    <a:cubicBezTo>
                      <a:pt x="8059380" y="5194808"/>
                      <a:pt x="7933229" y="5304028"/>
                      <a:pt x="7777808" y="5304028"/>
                    </a:cubicBezTo>
                    <a:lnTo>
                      <a:pt x="281573" y="5304028"/>
                    </a:lnTo>
                    <a:cubicBezTo>
                      <a:pt x="126005" y="5304028"/>
                      <a:pt x="0" y="5194808"/>
                      <a:pt x="0" y="5060188"/>
                    </a:cubicBezTo>
                    <a:close/>
                  </a:path>
                </a:pathLst>
              </a:custGeom>
              <a:solidFill>
                <a:srgbClr val="E5F9F2">
                  <a:alpha val="90196"/>
                </a:srgbClr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17920" cy="5354828"/>
              </a:xfrm>
              <a:custGeom>
                <a:avLst/>
                <a:gdLst/>
                <a:ahLst/>
                <a:cxnLst/>
                <a:rect r="r" b="b" t="t" l="l"/>
                <a:pathLst>
                  <a:path h="5354828" w="8117920">
                    <a:moveTo>
                      <a:pt x="0" y="269240"/>
                    </a:moveTo>
                    <a:cubicBezTo>
                      <a:pt x="0" y="120523"/>
                      <a:pt x="139323" y="0"/>
                      <a:pt x="310843" y="0"/>
                    </a:cubicBezTo>
                    <a:lnTo>
                      <a:pt x="7807078" y="0"/>
                    </a:lnTo>
                    <a:lnTo>
                      <a:pt x="7807078" y="25400"/>
                    </a:lnTo>
                    <a:lnTo>
                      <a:pt x="7807078" y="0"/>
                    </a:lnTo>
                    <a:cubicBezTo>
                      <a:pt x="7978743" y="0"/>
                      <a:pt x="8117920" y="120523"/>
                      <a:pt x="8117920" y="269240"/>
                    </a:cubicBezTo>
                    <a:lnTo>
                      <a:pt x="8088650" y="269240"/>
                    </a:lnTo>
                    <a:lnTo>
                      <a:pt x="8117920" y="269240"/>
                    </a:lnTo>
                    <a:lnTo>
                      <a:pt x="8117920" y="5085588"/>
                    </a:lnTo>
                    <a:lnTo>
                      <a:pt x="8088650" y="5085588"/>
                    </a:lnTo>
                    <a:lnTo>
                      <a:pt x="8117920" y="5085588"/>
                    </a:lnTo>
                    <a:cubicBezTo>
                      <a:pt x="8117920" y="5234305"/>
                      <a:pt x="7978597" y="5354828"/>
                      <a:pt x="7807078" y="5354828"/>
                    </a:cubicBezTo>
                    <a:lnTo>
                      <a:pt x="7807078" y="5329428"/>
                    </a:lnTo>
                    <a:lnTo>
                      <a:pt x="7807078" y="5354828"/>
                    </a:lnTo>
                    <a:lnTo>
                      <a:pt x="310843" y="5354828"/>
                    </a:lnTo>
                    <a:lnTo>
                      <a:pt x="310843" y="5329428"/>
                    </a:lnTo>
                    <a:lnTo>
                      <a:pt x="310843" y="5354828"/>
                    </a:lnTo>
                    <a:cubicBezTo>
                      <a:pt x="139323" y="5354828"/>
                      <a:pt x="0" y="5234305"/>
                      <a:pt x="0" y="5085588"/>
                    </a:cubicBezTo>
                    <a:lnTo>
                      <a:pt x="0" y="269240"/>
                    </a:lnTo>
                    <a:lnTo>
                      <a:pt x="29270" y="269240"/>
                    </a:lnTo>
                    <a:lnTo>
                      <a:pt x="0" y="269240"/>
                    </a:lnTo>
                    <a:moveTo>
                      <a:pt x="58539" y="269240"/>
                    </a:moveTo>
                    <a:lnTo>
                      <a:pt x="58539" y="5085588"/>
                    </a:lnTo>
                    <a:lnTo>
                      <a:pt x="29270" y="5085588"/>
                    </a:lnTo>
                    <a:lnTo>
                      <a:pt x="58539" y="5085588"/>
                    </a:lnTo>
                    <a:cubicBezTo>
                      <a:pt x="58539" y="5206111"/>
                      <a:pt x="171520" y="5304028"/>
                      <a:pt x="310843" y="5304028"/>
                    </a:cubicBezTo>
                    <a:lnTo>
                      <a:pt x="7807078" y="5304028"/>
                    </a:lnTo>
                    <a:cubicBezTo>
                      <a:pt x="7946548" y="5304028"/>
                      <a:pt x="8059381" y="5206238"/>
                      <a:pt x="8059381" y="5085588"/>
                    </a:cubicBezTo>
                    <a:lnTo>
                      <a:pt x="8059381" y="269240"/>
                    </a:lnTo>
                    <a:cubicBezTo>
                      <a:pt x="8059381" y="148717"/>
                      <a:pt x="7946401" y="50800"/>
                      <a:pt x="7807078" y="50800"/>
                    </a:cubicBezTo>
                    <a:lnTo>
                      <a:pt x="310843" y="50800"/>
                    </a:lnTo>
                    <a:lnTo>
                      <a:pt x="310843" y="25400"/>
                    </a:lnTo>
                    <a:lnTo>
                      <a:pt x="310843" y="50800"/>
                    </a:lnTo>
                    <a:cubicBezTo>
                      <a:pt x="171520" y="50800"/>
                      <a:pt x="58539" y="148590"/>
                      <a:pt x="58539" y="269240"/>
                    </a:cubicBezTo>
                    <a:close/>
                  </a:path>
                </a:pathLst>
              </a:custGeom>
              <a:solidFill>
                <a:srgbClr val="B7D5CA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25400"/>
              <a:ext cx="234157" cy="5304041"/>
              <a:chOff x="0" y="0"/>
              <a:chExt cx="234157" cy="530404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34157" cy="5304028"/>
              </a:xfrm>
              <a:custGeom>
                <a:avLst/>
                <a:gdLst/>
                <a:ahLst/>
                <a:cxnLst/>
                <a:rect r="r" b="b" t="t" l="l"/>
                <a:pathLst>
                  <a:path h="5304028" w="234157">
                    <a:moveTo>
                      <a:pt x="0" y="101600"/>
                    </a:moveTo>
                    <a:cubicBezTo>
                      <a:pt x="0" y="45466"/>
                      <a:pt x="52393" y="0"/>
                      <a:pt x="117078" y="0"/>
                    </a:cubicBezTo>
                    <a:cubicBezTo>
                      <a:pt x="181764" y="0"/>
                      <a:pt x="234157" y="45466"/>
                      <a:pt x="234157" y="101600"/>
                    </a:cubicBezTo>
                    <a:lnTo>
                      <a:pt x="234157" y="5202428"/>
                    </a:lnTo>
                    <a:cubicBezTo>
                      <a:pt x="234157" y="5258562"/>
                      <a:pt x="181764" y="5304028"/>
                      <a:pt x="117078" y="5304028"/>
                    </a:cubicBezTo>
                    <a:cubicBezTo>
                      <a:pt x="52393" y="5304028"/>
                      <a:pt x="0" y="5258562"/>
                      <a:pt x="0" y="5202428"/>
                    </a:cubicBezTo>
                    <a:close/>
                  </a:path>
                </a:pathLst>
              </a:custGeom>
              <a:solidFill>
                <a:srgbClr val="006747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728315" y="444703"/>
              <a:ext cx="5445285" cy="557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7"/>
                </a:lnSpc>
              </a:pPr>
              <a:r>
                <a:rPr lang="en-US" sz="2750" b="true">
                  <a:solidFill>
                    <a:srgbClr val="4B4A4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Impacto Imediato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28315" y="1166813"/>
              <a:ext cx="6895505" cy="2333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4B4A4A"/>
                  </a:solidFill>
                  <a:latin typeface="Arimo"/>
                  <a:ea typeface="Arimo"/>
                  <a:cs typeface="Arimo"/>
                  <a:sym typeface="Arimo"/>
                </a:rPr>
                <a:t>Permitir que pequenos negócios e famílias identifiquem desperdícios rapidamente, gerando economia financeira e ambiental.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44853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Nossa Solução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663276"/>
            <a:ext cx="11642227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Aplicação web simples para cadastro e monitoramento de contas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45519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984727"/>
            <a:ext cx="8009934" cy="38100"/>
            <a:chOff x="0" y="0"/>
            <a:chExt cx="10679913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419308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Cadastro Simples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710855"/>
            <a:ext cx="8009934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Permite adicionar unidades residenciais ou comerciais em poucas etapas.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5684" y="345519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5684" y="3984727"/>
            <a:ext cx="8010077" cy="38100"/>
            <a:chOff x="0" y="0"/>
            <a:chExt cx="10680103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85684" y="4193086"/>
            <a:ext cx="382161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Registro de Consumo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85684" y="4710855"/>
            <a:ext cx="8010077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Contr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ole descomplicado de consumos e resíduos com resultados fáceis de visualizar.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613320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662738"/>
            <a:ext cx="8009934" cy="38100"/>
            <a:chOff x="0" y="0"/>
            <a:chExt cx="10679913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2238" y="6871097"/>
            <a:ext cx="355133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Cálculo Automático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388866"/>
            <a:ext cx="800993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Estima emissão de CO2 baseada no consumo registrado.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5684" y="613320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Noto Serif"/>
                <a:ea typeface="Noto Serif"/>
                <a:cs typeface="Noto Serif"/>
                <a:sym typeface="Noto Serif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85684" y="6662738"/>
            <a:ext cx="8010077" cy="38100"/>
            <a:chOff x="0" y="0"/>
            <a:chExt cx="10680103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85684" y="687109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Alertas Inteligentes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7388866"/>
            <a:ext cx="801007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Notifica sobre variações anormais no consumo para ação rápida.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94334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Escopo Técnico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312766"/>
            <a:ext cx="562957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Requisitos e Restrições do MVP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464396"/>
            <a:ext cx="492754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Funcionalidades Principais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095580"/>
            <a:ext cx="6060373" cy="2224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Cadastro de consumo de energia e água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Alerta de variação (&gt;15%)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Exibição visual do impacto em CO2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Interface responsiva e simplificada</a:t>
            </a:r>
          </a:p>
          <a:p>
            <a:pPr algn="l">
              <a:lnSpc>
                <a:spcPts val="356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28833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Stack Tecnológica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919518"/>
            <a:ext cx="5256457" cy="88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MERN (Mongo, Express, React, Node)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Docker, Microsoft Azure e Vercel.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46439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Restrições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095580"/>
            <a:ext cx="5256457" cy="267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extração automática de texto via OCR </a:t>
            </a:r>
            <a:r>
              <a:rPr lang="en-US" b="true" sz="2187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(Reconhecimento Óptico de Caracteres)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não integra o escopo desta fase.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Requer conexão com a internet para funcionar.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85030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Impacto e Futuro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166615"/>
            <a:ext cx="8151762" cy="1134066"/>
            <a:chOff x="0" y="0"/>
            <a:chExt cx="10869016" cy="15120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" t="0" r="-35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5759" y="457467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Impacto no Público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5092456"/>
            <a:ext cx="7584729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Controle financeiro simplificado e identificação rápida de desperdícios (vazamentos, picos de energia), gerando economia real.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3166615"/>
            <a:ext cx="8151762" cy="1134066"/>
            <a:chOff x="0" y="0"/>
            <a:chExt cx="10869016" cy="151208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869041" cy="1512062"/>
            </a:xfrm>
            <a:custGeom>
              <a:avLst/>
              <a:gdLst/>
              <a:ahLst/>
              <a:cxnLst/>
              <a:rect r="r" b="b" t="t" l="l"/>
              <a:pathLst>
                <a:path h="1512062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" t="0" r="-35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27521" y="4574677"/>
            <a:ext cx="396224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Impacto na Sociedade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7521" y="5092456"/>
            <a:ext cx="7584729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Educação ambiental na prática, traduzindo números de faturas em pegada de carbono, incentivando hábitos sustentáveis no dia a dia.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7302294"/>
            <a:ext cx="16303523" cy="44948"/>
            <a:chOff x="0" y="0"/>
            <a:chExt cx="21738031" cy="599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82" cy="59944"/>
            </a:xfrm>
            <a:custGeom>
              <a:avLst/>
              <a:gdLst/>
              <a:ahLst/>
              <a:cxnLst/>
              <a:rect r="r" b="b" t="t" l="l"/>
              <a:pathLst>
                <a:path h="5994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4B4A4A">
                <a:alpha val="24706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92238" y="7561364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6747"/>
                </a:solidFill>
                <a:latin typeface="Arimo Bold"/>
                <a:ea typeface="Arimo Bold"/>
                <a:cs typeface="Arimo Bold"/>
                <a:sym typeface="Arimo Bold"/>
              </a:rPr>
              <a:t>CO2ntaZero</a:t>
            </a:r>
            <a:r>
              <a:rPr lang="en-US" sz="2187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 democratiza o acesso à gestão sustentável, transformando dados complexos em ações simples que beneficiam tanto o bolso quanto o planeta.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DAHEK3KOWSc</dc:identifier>
  <dcterms:modified xsi:type="dcterms:W3CDTF">2011-08-01T06:04:30Z</dcterms:modified>
  <cp:revision>1</cp:revision>
  <dc:title>CO2ntaZero.pptx</dc:title>
</cp:coreProperties>
</file>